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1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DFE6"/>
    <a:srgbClr val="FFFFFF"/>
    <a:srgbClr val="028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073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548640"/>
            <a:ext cx="2011680" cy="201168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-182880"/>
            <a:ext cx="1280160" cy="1280160"/>
          </a:xfrm>
          <a:prstGeom prst="ellipse">
            <a:avLst/>
          </a:prstGeom>
          <a:solidFill>
            <a:srgbClr val="00B4CC">
              <a:alpha val="40000"/>
            </a:srgbClr>
          </a:solidFill>
          <a:ln w="12700">
            <a:solidFill>
              <a:srgbClr val="00B4CC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FPGA Implementation of an Efficient Partial Product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and Accumulation Unit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Multipliers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Chinmay Kushwah  •  Aditya Raghunath Raut  •  MD. Hasan Usmani  •  Mohd. Wasim Akhtar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0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Dr. Laxmi Pradhan Kumre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&amp; Communication Engineering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Maulana Azad National Institute of Technology, Bhopal  |  April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ECE-327 Project-1  |  Group No. 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Multipliers Matter</a:t>
            </a:r>
            <a:endParaRPr lang="en-US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multipliers are fundamental arithmetic components that determine critical system metrics: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Combinational delay &amp; timing closure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LUT &amp; silicon footprint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Static &amp; dynamic consumption</a:t>
            </a:r>
          </a:p>
          <a:p>
            <a:pPr marL="0" indent="0">
              <a:buNone/>
            </a:pPr>
            <a:endParaRPr lang="en-US" sz="1200" dirty="0">
              <a:solidFill>
                <a:srgbClr val="1A2B3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in conventional multipliers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Multiplication generates many Partial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leads to: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Larger Hardware area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Higher power consumption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Increased computation delay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0" y="960120"/>
            <a:ext cx="329184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0" y="96012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&amp; Signal Processing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0" y="1764792"/>
            <a:ext cx="329184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76479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0" y="2569464"/>
            <a:ext cx="329184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0" y="256946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0" y="3374136"/>
            <a:ext cx="329184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7413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Accelerators</a:t>
            </a:r>
            <a:endParaRPr lang="en-US" sz="130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352CF752-5401-7301-1F0D-D9808E9C01F0}"/>
              </a:ext>
            </a:extLst>
          </p:cNvPr>
          <p:cNvSpPr/>
          <p:nvPr/>
        </p:nvSpPr>
        <p:spPr>
          <a:xfrm>
            <a:off x="5486400" y="4178808"/>
            <a:ext cx="329184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CD824C-39AA-37A0-B7A2-96713F63AA5E}"/>
              </a:ext>
            </a:extLst>
          </p:cNvPr>
          <p:cNvSpPr txBox="1"/>
          <p:nvPr/>
        </p:nvSpPr>
        <p:spPr>
          <a:xfrm>
            <a:off x="6480048" y="4358641"/>
            <a:ext cx="2170176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&amp; IoT</a:t>
            </a:r>
            <a:endParaRPr lang="en-US" sz="13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813816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three 8-bit signed multiplier architectures — Array, Booth Radix-2, Booth Radix-4 — in Verilog HDL using a structural and modular design approach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82496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82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453896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all three designs using Vivado XSim simulator and verify functional correctness through testbench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450592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3012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and physically implement Radix-4 on the Xilinx Artix-7 FPGA (Basys-3) under timing and area constraints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21868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099816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architectures on three key metrics: area utilization (LUT count), timing performance (WHS &amp; WNS), and power consumption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986784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86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89839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suitable architecture for area-constrained, power-critical, and speed-balanced design scenarios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Tools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Materials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658368"/>
          </a:xfrm>
          <a:prstGeom prst="rect">
            <a:avLst/>
          </a:prstGeom>
          <a:solidFill>
            <a:srgbClr val="E8F0F3"/>
          </a:solidFill>
          <a:ln w="12700">
            <a:solidFill>
              <a:srgbClr val="C8D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HDL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270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&amp; behavioral modeling of all submodules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842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Vivado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elaboration, synthesis, place &amp; route, timing &amp; power analysis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114800" cy="658368"/>
          </a:xfrm>
          <a:prstGeom prst="rect">
            <a:avLst/>
          </a:prstGeom>
          <a:solidFill>
            <a:srgbClr val="E8F0F3"/>
          </a:solidFill>
          <a:ln w="12700">
            <a:solidFill>
              <a:srgbClr val="C8D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614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Basys-3 (Artix-7)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081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FPGA platform for physical implementation &amp; verification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387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XSim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simulation via manually crafted testbenches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777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Workflow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1188720"/>
            <a:ext cx="36576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HDL Coding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20840" y="1691640"/>
            <a:ext cx="274320" cy="201168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16916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1892808"/>
            <a:ext cx="36576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892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(XSim)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20840" y="2395728"/>
            <a:ext cx="274320" cy="201168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23957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2596896"/>
            <a:ext cx="36576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5968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20840" y="3099816"/>
            <a:ext cx="274320" cy="201168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0998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3300984"/>
            <a:ext cx="36576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3009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&amp; Route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20840" y="3803904"/>
            <a:ext cx="274320" cy="201168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8039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4005072"/>
            <a:ext cx="36576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40050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Implementation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(Shift-and-Add) Multiplier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5720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Principle
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partial products by ANDing each bit of the multiplier with the full multiplicand. Partial products are then accumulated using a tree of half-adders and full-adders.
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n-bit multiplication: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n partial products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an AND of multiplicand with one multiplier bit
Accumulation via cascaded adder rows
Limited to unsigned numbers in basic form</a:t>
            </a:r>
          </a:p>
          <a:p>
            <a:pPr>
              <a:buSzPct val="100000"/>
            </a:pP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Characteristic:</a:t>
            </a: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Simple logic → maps efficiently to FPGA LUT primitives with minimal overhead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4608576"/>
            <a:ext cx="841248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65 LUTs  |  WNS = 3.332 ns  |  Dynamic Power = 3 mW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075B18-9247-9F59-075E-C26934BEC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632" y="974725"/>
            <a:ext cx="4352544" cy="2814335"/>
          </a:xfrm>
          <a:prstGeom prst="rect">
            <a:avLst/>
          </a:prstGeom>
          <a:noFill/>
          <a:ln w="19050">
            <a:solidFill>
              <a:schemeClr val="accent1">
                <a:lumMod val="50000"/>
                <a:alpha val="89000"/>
              </a:schemeClr>
            </a:solidFill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  <a:softEdge rad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Radix-2 Multiplier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468368" cy="404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Overview
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overlapping pairs of multiplier bits (Qi, Qi-1), generating partial products from {0, +M, -M}.
</a:t>
            </a: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Rules: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0←0  →  Right shift only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1←1  →  Right shift only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0←1  →  Perform A + M, then Right shift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1←0  →  Perform A − M (add −M), then Right shift
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7 × 6 = 42  →  4 steps, result 00101010
</a:t>
            </a: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Per-bit encoder logic cannot be fully absorbed into carry chain → highest LUT count (124) but lowest dynamic power (1 mW).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20640" y="82296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6136" y="4636304"/>
            <a:ext cx="8412480" cy="320040"/>
          </a:xfrm>
          <a:prstGeom prst="rect">
            <a:avLst/>
          </a:prstGeom>
          <a:solidFill>
            <a:srgbClr val="0D213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124 LUTs  |  WNS = 2.326 ns  |  Dynamic Power = 1 mW (Lowest)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80DE18-C91E-BA2C-16C5-397C1F486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956" y="1120140"/>
            <a:ext cx="3960396" cy="3074500"/>
          </a:xfrm>
          <a:prstGeom prst="rect">
            <a:avLst/>
          </a:prstGeom>
          <a:noFill/>
          <a:ln w="15875">
            <a:solidFill>
              <a:schemeClr val="accent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Booth Radix-4 Multiplier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572000" cy="341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Overview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overlapping groups of 3 multiplier bits (Q(i), Q(i-1), Q(i-2)) simultaneously, generating n/2 partial products from {0, +M, −M, +2M, −2M}.
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Steps: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Extend sign bit by 1 position (ensure even n)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Append 0 at LSB of multiplier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Take 3-bit groups; map to {0, ±M, ±2M}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Negation via 2's complement; ×2 by left shift
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±2M operations require extra shifting/sign-inversion logic → higher switching activity than expected.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092624"/>
              </p:ext>
            </p:extLst>
          </p:nvPr>
        </p:nvGraphicFramePr>
        <p:xfrm>
          <a:off x="5120640" y="1285875"/>
          <a:ext cx="3657600" cy="249402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1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ED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ln>
                            <a:noFill/>
                          </a:ln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Q(i-1) </a:t>
                      </a:r>
                      <a:endParaRPr lang="en-US" sz="1200" b="1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ln>
                            <a:noFill/>
                          </a:ln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Q(i-2)</a:t>
                      </a:r>
                      <a:endParaRPr lang="en-US" sz="1200" b="1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ED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+M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4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+M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+2M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−2M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−M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−M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</a:t>
                      </a:r>
                      <a:endParaRPr lang="en-US" sz="120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628007"/>
            <a:ext cx="841248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70 LUTs  |  WNS = 3.009 ns  |  Dynamic Power = 5 mW (Highest due to encoder complexity)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multiplier architectures were simulated using Vivado XSim. Testbenches covered both positive and negative 8-bit signed operand combinations. All designs produced correct 16-bit signed products.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3893681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Multiplier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38472" y="391820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Encoded Multiplier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58EB52-6C82-AF71-A1D9-2710C3A8E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125" y="1411319"/>
            <a:ext cx="4106116" cy="2421445"/>
          </a:xfrm>
          <a:prstGeom prst="rect">
            <a:avLst/>
          </a:prstGeom>
          <a:noFill/>
          <a:ln w="15875">
            <a:solidFill>
              <a:schemeClr val="accent1">
                <a:lumMod val="50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6D05953-2D95-81D4-BADE-002F4C7A39E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3417"/>
          <a:stretch>
            <a:fillRect/>
          </a:stretch>
        </p:blipFill>
        <p:spPr bwMode="auto">
          <a:xfrm>
            <a:off x="423672" y="1411319"/>
            <a:ext cx="3988457" cy="2406302"/>
          </a:xfrm>
          <a:prstGeom prst="rect">
            <a:avLst/>
          </a:prstGeom>
          <a:noFill/>
          <a:ln w="15875">
            <a:solidFill>
              <a:schemeClr val="accent1">
                <a:lumMod val="50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3370F2-3894-675C-7160-57E6E47430F8}"/>
              </a:ext>
            </a:extLst>
          </p:cNvPr>
          <p:cNvSpPr txBox="1"/>
          <p:nvPr/>
        </p:nvSpPr>
        <p:spPr>
          <a:xfrm>
            <a:off x="320040" y="4289258"/>
            <a:ext cx="8583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Limitation of Array Multiplier: It gives wrong result in case of signed numbers</a:t>
            </a:r>
          </a:p>
          <a:p>
            <a:pPr algn="ctr"/>
            <a:r>
              <a:rPr lang="en-IN" sz="1600" dirty="0"/>
              <a:t>That’s why Booth encoding based multipliers are used for accurate signed multiplication.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 Utilization &amp; Timing Analysis</a:t>
            </a:r>
            <a:endParaRPr lang="en-US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195FE8-3882-C6C6-775B-E1C11A388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37" y="1096518"/>
            <a:ext cx="4410075" cy="2186940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4CCAC1-80FE-40BD-52F6-C654FF84B6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106" y="1103948"/>
            <a:ext cx="4225551" cy="2186940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D2F586-CB6F-5C51-62B2-934400D87BBC}"/>
              </a:ext>
            </a:extLst>
          </p:cNvPr>
          <p:cNvSpPr txBox="1"/>
          <p:nvPr/>
        </p:nvSpPr>
        <p:spPr>
          <a:xfrm>
            <a:off x="143637" y="3639553"/>
            <a:ext cx="88400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</a:t>
            </a:r>
            <a:r>
              <a:rPr lang="en-US" sz="1400" b="1" dirty="0"/>
              <a:t>Array multiplier is compact</a:t>
            </a:r>
            <a:r>
              <a:rPr lang="en-US" sz="1400" dirty="0"/>
              <a:t> because adders map efficiently to dedicated carry chains (CARRY4), reducing LUT count.</a:t>
            </a:r>
            <a:br>
              <a:rPr lang="en-US" sz="1400" dirty="0"/>
            </a:br>
            <a:r>
              <a:rPr lang="en-US" sz="1400" b="1" dirty="0"/>
              <a:t>Radix-2 uses more LUTs</a:t>
            </a:r>
            <a:r>
              <a:rPr lang="en-US" sz="1400" dirty="0"/>
              <a:t> due to extra Booth encoding logic that cannot be optimized into carry chains.</a:t>
            </a:r>
            <a:br>
              <a:rPr lang="en-US" sz="1400" dirty="0"/>
            </a:br>
            <a:r>
              <a:rPr lang="en-US" sz="1400" b="1" dirty="0"/>
              <a:t>Radix-4 balances both</a:t>
            </a:r>
            <a:r>
              <a:rPr lang="en-US" sz="1400" dirty="0"/>
              <a:t>, reducing partial products but adding encoder complexity, so LUT count is close to Array.</a:t>
            </a:r>
            <a:endParaRPr lang="en-IN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Analysis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85383"/>
              </p:ext>
            </p:extLst>
          </p:nvPr>
        </p:nvGraphicFramePr>
        <p:xfrm>
          <a:off x="2099310" y="824483"/>
          <a:ext cx="4372356" cy="1901953"/>
        </p:xfrm>
        <a:graphic>
          <a:graphicData uri="http://schemas.openxmlformats.org/drawingml/2006/table">
            <a:tbl>
              <a:tblPr/>
              <a:tblGrid>
                <a:gridCol w="1844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4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18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Booth Radix-2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F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Booth Radix-4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D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On-Chip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0.073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0.076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Static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Power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Fraction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8D02A860-6FD6-18D3-6EB9-7927CA9FA6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933" b="30776"/>
          <a:stretch>
            <a:fillRect/>
          </a:stretch>
        </p:blipFill>
        <p:spPr>
          <a:xfrm>
            <a:off x="534923" y="2974848"/>
            <a:ext cx="2078565" cy="1658112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5419357-0A4B-69E8-FFAF-73AB11C1C9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777" b="33994"/>
          <a:stretch>
            <a:fillRect/>
          </a:stretch>
        </p:blipFill>
        <p:spPr>
          <a:xfrm>
            <a:off x="3372611" y="2919984"/>
            <a:ext cx="2186481" cy="1658112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1C4A535-C61F-DA48-A20B-9DCE636431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243" b="34882"/>
          <a:stretch>
            <a:fillRect/>
          </a:stretch>
        </p:blipFill>
        <p:spPr>
          <a:xfrm>
            <a:off x="6471666" y="2919984"/>
            <a:ext cx="2238934" cy="1658112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F494590-6F16-D2A3-ABB9-C1CEC9330500}"/>
              </a:ext>
            </a:extLst>
          </p:cNvPr>
          <p:cNvSpPr txBox="1"/>
          <p:nvPr/>
        </p:nvSpPr>
        <p:spPr>
          <a:xfrm>
            <a:off x="668949" y="4692134"/>
            <a:ext cx="181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Array Multiplier 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EE7EAF-A001-D7DE-EEB0-E9F2D88D1BA8}"/>
              </a:ext>
            </a:extLst>
          </p:cNvPr>
          <p:cNvSpPr txBox="1"/>
          <p:nvPr/>
        </p:nvSpPr>
        <p:spPr>
          <a:xfrm>
            <a:off x="3560595" y="4659868"/>
            <a:ext cx="181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Booth Radix-2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892D4A-3840-5E82-B631-20EC1695960B}"/>
              </a:ext>
            </a:extLst>
          </p:cNvPr>
          <p:cNvSpPr txBox="1"/>
          <p:nvPr/>
        </p:nvSpPr>
        <p:spPr>
          <a:xfrm>
            <a:off x="6685877" y="4651248"/>
            <a:ext cx="1810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Booth Radix-4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Summary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038174"/>
              </p:ext>
            </p:extLst>
          </p:nvPr>
        </p:nvGraphicFramePr>
        <p:xfrm>
          <a:off x="457200" y="868680"/>
          <a:ext cx="8229600" cy="1947913"/>
        </p:xfrm>
        <a:graphic>
          <a:graphicData uri="http://schemas.openxmlformats.org/drawingml/2006/table">
            <a:tbl>
              <a:tblPr/>
              <a:tblGrid>
                <a:gridCol w="1762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61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5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Multiplier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Booth Radix-2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Booth Radix-4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8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LUTs (Area)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9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WNS (Timing Margin)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3.332 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2.326 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3.009 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Power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mW  Moderate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</a:t>
                      </a:r>
                      <a:r>
                        <a:rPr lang="en-US" sz="1250" dirty="0" err="1">
                          <a:solidFill>
                            <a:srgbClr val="1A7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</a:t>
                      </a:r>
                      <a:r>
                        <a:rPr lang="en-US" sz="1250" dirty="0" err="1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Suited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Area-constrained designs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Power-critical systems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Speed-area balanced designs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AE3E4A4-CB69-3602-9A9D-121595A09758}"/>
              </a:ext>
            </a:extLst>
          </p:cNvPr>
          <p:cNvSpPr txBox="1"/>
          <p:nvPr/>
        </p:nvSpPr>
        <p:spPr>
          <a:xfrm>
            <a:off x="457200" y="3001879"/>
            <a:ext cx="8229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On FPGA, </a:t>
            </a:r>
            <a:r>
              <a:rPr lang="en-US" sz="1600" b="1" dirty="0"/>
              <a:t>dynamic power depends on switching activity</a:t>
            </a:r>
            <a:r>
              <a:rPr lang="en-US" sz="1600" dirty="0"/>
              <a:t>, not just number of operations.</a:t>
            </a:r>
          </a:p>
          <a:p>
            <a:r>
              <a:rPr lang="en-US" sz="1600" b="1" dirty="0"/>
              <a:t>Radix-2 shows lowest power</a:t>
            </a:r>
            <a:r>
              <a:rPr lang="en-US" sz="1600" dirty="0"/>
              <a:t> due to sparse switching from Booth encoding (many operations become zero).</a:t>
            </a:r>
            <a:br>
              <a:rPr lang="en-US" sz="1600" dirty="0"/>
            </a:br>
            <a:r>
              <a:rPr lang="en-US" sz="1600" b="1" dirty="0"/>
              <a:t>Array multiplier is moderate</a:t>
            </a:r>
            <a:r>
              <a:rPr lang="en-US" sz="1600" dirty="0"/>
              <a:t>, as switching is high but optimized carry chains reduce power.</a:t>
            </a:r>
            <a:br>
              <a:rPr lang="en-US" sz="1600" dirty="0"/>
            </a:br>
            <a:r>
              <a:rPr lang="en-US" sz="1600" b="1" dirty="0"/>
              <a:t>Radix-4 shows highest power</a:t>
            </a:r>
            <a:r>
              <a:rPr lang="en-US" sz="1600" dirty="0"/>
              <a:t> due to complex encoder logic and higher internal switching, also influenced by </a:t>
            </a:r>
            <a:r>
              <a:rPr lang="en-US" sz="1600" dirty="0" err="1"/>
              <a:t>Vivado</a:t>
            </a:r>
            <a:r>
              <a:rPr lang="en-US" sz="1600" dirty="0"/>
              <a:t> estimation.</a:t>
            </a:r>
            <a:endParaRPr lang="en-IN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Implementation on Basys-3 FPGA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Xilinx Artix-7 (XC7A35T) — Digilent Basys-3 Board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SW0–SW7 → Operand A  |  SW8–SW15 → Operand B  |  LD0–LD15 → 16-bit Product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0040" y="4511040"/>
            <a:ext cx="8458200" cy="586740"/>
          </a:xfrm>
          <a:prstGeom prst="rect">
            <a:avLst/>
          </a:prstGeom>
          <a:solidFill>
            <a:srgbClr val="D8EEF3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1:</a:t>
            </a: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A=+3 (00000011), B=+5 (00000101) → Product = +15 → 0000000000001111
</a:t>
            </a: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2:</a:t>
            </a: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A=−3 (11111101), B=+5 (00000101) → Product = −15 → 1111111111110001 </a:t>
            </a:r>
            <a:endParaRPr lang="en-US" sz="12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37021E-3E72-806C-C04D-15EB630E22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2" t="6871" r="2270" b="6250"/>
          <a:stretch>
            <a:fillRect/>
          </a:stretch>
        </p:blipFill>
        <p:spPr>
          <a:xfrm>
            <a:off x="268224" y="1560576"/>
            <a:ext cx="3828288" cy="2389632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E3FD921-F649-C4FF-0EF4-372085AF0B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76" t="5397" r="4871" b="4060"/>
          <a:stretch>
            <a:fillRect/>
          </a:stretch>
        </p:blipFill>
        <p:spPr>
          <a:xfrm>
            <a:off x="5047488" y="1560576"/>
            <a:ext cx="3828288" cy="2389632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082818-41DF-1418-9D20-1F72A3656A35}"/>
              </a:ext>
            </a:extLst>
          </p:cNvPr>
          <p:cNvSpPr txBox="1"/>
          <p:nvPr/>
        </p:nvSpPr>
        <p:spPr>
          <a:xfrm>
            <a:off x="1130808" y="3978164"/>
            <a:ext cx="210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1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194C2F-56D5-6F2E-742E-513C92D24824}"/>
              </a:ext>
            </a:extLst>
          </p:cNvPr>
          <p:cNvSpPr txBox="1"/>
          <p:nvPr/>
        </p:nvSpPr>
        <p:spPr>
          <a:xfrm>
            <a:off x="5910072" y="3978164"/>
            <a:ext cx="210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2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28600" cy="22860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Multiplier — Best area (65 LUTs) and timing margin (WNS 3.332 ns)  Ideal for area-constrained designs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228600" cy="22860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Radix-2 — Lowest dynamic power (1 mW) at cost of highest LUT count (124) → best for power-critical systems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228600" cy="22860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51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Radix-4 — Balanced area (70 LUTs) and timing (WNS 3.009 ns); unexpected highest dynamic power (5 mW) due to ±2M encoder complexity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4557" y="3520440"/>
            <a:ext cx="228600" cy="22860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685800" y="33375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technology mapping significantly influences results — theoretical gate-level advantages do not always translate to synthesis outcomes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0" y="868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0" y="1417320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16-bit &amp; 32-bit operands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96747" y="1920240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576072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SAIF-based accurate power estimation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0" y="2423160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 implementation for gate-level comparison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0" y="2926080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Pipelined variants — evaluate throughput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0" y="3429000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576072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Wallace Tree vs CSA trade-off analysis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0" y="3924460"/>
            <a:ext cx="20116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unit integration for DSP data path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16  •  MANIT Bhopal  •  April 2026  •  ECE-327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1603</TotalTime>
  <Words>1293</Words>
  <Application>Microsoft Office PowerPoint</Application>
  <PresentationFormat>On-screen Show (16:9)</PresentationFormat>
  <Paragraphs>209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an Efficient Partial Product Generator and Accumulation Unit for Multipliers</dc:title>
  <dc:subject>PptxGenJS Presentation</dc:subject>
  <dc:creator>PptxGenJS</dc:creator>
  <cp:lastModifiedBy>Aditya Raut</cp:lastModifiedBy>
  <cp:revision>6</cp:revision>
  <dcterms:created xsi:type="dcterms:W3CDTF">2026-04-21T11:11:32Z</dcterms:created>
  <dcterms:modified xsi:type="dcterms:W3CDTF">2026-04-23T14:19:11Z</dcterms:modified>
</cp:coreProperties>
</file>